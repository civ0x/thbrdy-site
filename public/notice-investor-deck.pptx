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737360"/>
            <a:ext cx="1097280" cy="36576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Notice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B8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the skill your body already has.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Multi-device AI-assisted interoception training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Thomas Brady  |  jthomasbrady@proton.me  |  thbrdy.dev/notice  |  Pando Industries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886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body knows before you do.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50292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54864" cy="822960"/>
          </a:xfrm>
          <a:prstGeom prst="rect">
            <a:avLst/>
          </a:prstGeom>
          <a:solidFill>
            <a:srgbClr val="B8860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5564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642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 variability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54480" y="1965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before anxiety arrives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2560320"/>
            <a:ext cx="50292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2560320"/>
            <a:ext cx="54864" cy="822960"/>
          </a:xfrm>
          <a:prstGeom prst="rect">
            <a:avLst/>
          </a:prstGeom>
          <a:solidFill>
            <a:srgbClr val="B8860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76148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26700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554480" y="2971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climbs before excitement registers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31520" y="3566160"/>
            <a:ext cx="50292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566160"/>
            <a:ext cx="54864" cy="822960"/>
          </a:xfrm>
          <a:prstGeom prst="rect">
            <a:avLst/>
          </a:prstGeom>
          <a:solidFill>
            <a:srgbClr val="B8860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76732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6758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conductance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554480" y="3977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before you can name the feeling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7920" y="1554480"/>
            <a:ext cx="2560320" cy="3017520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20" name="Text 15"/>
          <p:cNvSpPr/>
          <p:nvPr/>
        </p:nvSpPr>
        <p:spPr>
          <a:xfrm>
            <a:off x="6492240" y="18288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Interoceptive accuracy is not a fixed trait.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6492240" y="28346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skill. It is trainable. But no product measures the training.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886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 Snap: capture, label, reflect.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25880" y="1508760"/>
            <a:ext cx="502920" cy="50292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5" name="Text 3"/>
          <p:cNvSpPr/>
          <p:nvPr/>
        </p:nvSpPr>
        <p:spPr>
          <a:xfrm>
            <a:off x="13258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Watch, Garmin, or phone — captures HR, HRV, context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508760"/>
            <a:ext cx="502920" cy="50292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8892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Label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88920" y="2514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somatic-texture categories grounded in Gendlin’s Focusing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40680" y="1508760"/>
            <a:ext cx="502920" cy="50292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3" name="Text 11"/>
          <p:cNvSpPr/>
          <p:nvPr/>
        </p:nvSpPr>
        <p:spPr>
          <a:xfrm>
            <a:off x="54406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46320" y="2514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a contemplative mirror — not advice, not diagnosis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98080" y="1508760"/>
            <a:ext cx="502920" cy="50292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0372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903720" y="2514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surface over days and weeks. The app gets quieter as you grow.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94760"/>
            <a:ext cx="8229600" cy="1097280"/>
          </a:xfrm>
          <a:prstGeom prst="rect">
            <a:avLst/>
          </a:prstGeom>
          <a:solidFill>
            <a:srgbClr val="F5EFE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931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 labeling — validated regulatory technique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74720" y="3931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reflection timescales: witness, debrief, synthesis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17920" y="3931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Scaffolding decay: users graduate, not churn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886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METRIC NO ONE ELSE MEASURES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Interoceptive Lead Time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temporal gap between when your body shifts and when you consciously notice.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3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collects both streams: continuous biometrics from HealthKit and discrete conscious reports from Frame Snaps.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3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Shrinking that gap is interoceptive development. No other product measures this.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03520" y="1463040"/>
            <a:ext cx="34747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577840" y="1600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month ago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577840" y="1874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63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 min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577840" y="2286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shift → conscious notice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577840" y="2697480"/>
            <a:ext cx="2926080" cy="0"/>
          </a:xfrm>
          <a:prstGeom prst="line">
            <a:avLst/>
          </a:prstGeom>
          <a:noFill/>
          <a:ln w="1270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2834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7784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min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8229600" cy="914400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0690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lead time reduction correlates with MAIA-2 score improvement — that’s a peer-reviewable finding.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886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PRIVACY AS TOPOLOGY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trust paths, one protocol.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24688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08760"/>
            <a:ext cx="2468880" cy="54864"/>
          </a:xfrm>
          <a:prstGeom prst="rect">
            <a:avLst/>
          </a:prstGeom>
          <a:solidFill>
            <a:srgbClr val="4A7A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91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Watch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On-device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WatchConnectivity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trust domain. No network hop.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1508760"/>
            <a:ext cx="24688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508760"/>
            <a:ext cx="2468880" cy="54864"/>
          </a:xfrm>
          <a:prstGeom prst="rect">
            <a:avLst/>
          </a:prstGeom>
          <a:solidFill>
            <a:srgbClr val="2A7A6A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1691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Garmin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188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7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On-device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11880" y="22860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BLE Direct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11880" y="2606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topology, different mechanics. No cloud hop.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508760"/>
            <a:ext cx="24688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508760"/>
            <a:ext cx="2468880" cy="54864"/>
          </a:xfrm>
          <a:prstGeom prst="rect">
            <a:avLst/>
          </a:prstGeom>
          <a:solidFill>
            <a:srgbClr val="2A5A8A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691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Oura Ring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5508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5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Client-side cloud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55080" y="22860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 API + OAuth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55080" y="2606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reaches iPhone, never touches Notice infra.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F5EFE0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paths converge </a:t>
            </a:r>
            <a:pPr indent="0" marL="0">
              <a:buNone/>
            </a:pPr>
            <a:r>
              <a:rPr lang="en-US" sz="12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relative descriptor functions </a:t>
            </a:r>
            <a:pPr indent="0" marL="0">
              <a:buNone/>
            </a:pPr>
            <a:r>
              <a:rPr lang="en-US" sz="1200" dirty="0">
                <a:solidFill>
                  <a:srgbClr val="4A3D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strip absolute values before reaching Claude. Architecture is the FDA/FTC compliance strategy.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886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categories. None connect all three layers.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7680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  <a:gridCol w="29260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Category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86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Players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86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Missing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860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Calm, Headspace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63D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Biometrics + labeling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WHOOP, Oura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63D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Emotional context + reflection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Mood logging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We Feel, Daylio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63D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Biometrics + AI synthesis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324612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3246120"/>
            <a:ext cx="54864" cy="155448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3337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Multi-device moat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6576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WHOOP reads only WHOOP. Oura reads only Oura. Notice works across all three ecosystems with unified AI reflection.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324612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3246120"/>
            <a:ext cx="54864" cy="155448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0" y="3337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anchor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29200" y="36576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$80/yr (zero marginal cost on-device). Full $149–199/yr (Claude API synthesis). Anchored against WHOOP ($239/yr) and Oura ($70/yr + hardware).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886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MOAT DEEPENS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On-device LoRA + expanding aperture.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840480" cy="3291840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148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B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reflection tier running locally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B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dependency, no data disclosure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788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B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marginal cost per reflection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3108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B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adaptation learns YOUR vocabulary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429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B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weights never leave the phone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3749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B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increases monotonically with use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4069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B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 of API calls eliminated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46304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2064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Vision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20640" y="2194560"/>
            <a:ext cx="54864" cy="685800"/>
          </a:xfrm>
          <a:prstGeom prst="rect">
            <a:avLst/>
          </a:prstGeom>
          <a:solidFill>
            <a:srgbClr val="4A7A4A"/>
          </a:solidFill>
          <a:ln/>
        </p:spPr>
      </p:sp>
      <p:sp>
        <p:nvSpPr>
          <p:cNvPr id="16" name="Text 14"/>
          <p:cNvSpPr/>
          <p:nvPr/>
        </p:nvSpPr>
        <p:spPr>
          <a:xfrm>
            <a:off x="5349240" y="21945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89320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interoception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2468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product, in beta. Multi-device biometric + AI reflection.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20640" y="3063240"/>
            <a:ext cx="54864" cy="6858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5349240" y="3063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86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89320" y="3063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attunement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49240" y="33375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Co-regulation between two people via breathing-rate transmission. Staged research with kill criteria.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20640" y="3931920"/>
            <a:ext cx="54864" cy="685800"/>
          </a:xfrm>
          <a:prstGeom prst="rect">
            <a:avLst/>
          </a:prstGeom>
          <a:solidFill>
            <a:srgbClr val="2A5A8A"/>
          </a:solidFill>
          <a:ln/>
        </p:spPr>
      </p:sp>
      <p:sp>
        <p:nvSpPr>
          <p:cNvPr id="24" name="Text 22"/>
          <p:cNvSpPr/>
          <p:nvPr/>
        </p:nvSpPr>
        <p:spPr>
          <a:xfrm>
            <a:off x="5349240" y="3931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5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89320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 field awareness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4206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group physiological coherence. The field doesn’t exist yet.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1097280" cy="36576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85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Thomas Brady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 founder  |  Pando Industries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3657600" cy="1005840"/>
          </a:xfrm>
          <a:prstGeom prst="rect">
            <a:avLst/>
          </a:prstGeom>
          <a:solidFill>
            <a:srgbClr val="2A2722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828800"/>
            <a:ext cx="54864" cy="10058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+ AI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2194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leader and AI infrastructure engineer. Distributed systems, ML ops, product strategy.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828800"/>
            <a:ext cx="3657600" cy="1005840"/>
          </a:xfrm>
          <a:prstGeom prst="rect">
            <a:avLst/>
          </a:prstGeom>
          <a:solidFill>
            <a:srgbClr val="2A2722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1828800"/>
            <a:ext cx="54864" cy="10058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Forces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2194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U.S. Army Special Forces. Systems thinking under complexity and uncertainty.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063240"/>
            <a:ext cx="3657600" cy="1005840"/>
          </a:xfrm>
          <a:prstGeom prst="rect">
            <a:avLst/>
          </a:prstGeom>
          <a:solidFill>
            <a:srgbClr val="2A2722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063240"/>
            <a:ext cx="54864" cy="10058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154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Contemplative practice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3429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Longtime practitioner (Theravada / Vajrayana). The domain expertise behind the product design.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063240"/>
            <a:ext cx="3657600" cy="1005840"/>
          </a:xfrm>
          <a:prstGeom prst="rect">
            <a:avLst/>
          </a:prstGeom>
          <a:solidFill>
            <a:srgbClr val="2A2722"/>
          </a:solidFill>
          <a:ln/>
        </p:spPr>
      </p:sp>
      <p:sp>
        <p:nvSpPr>
          <p:cNvPr id="18" name="Shape 16"/>
          <p:cNvSpPr/>
          <p:nvPr/>
        </p:nvSpPr>
        <p:spPr>
          <a:xfrm>
            <a:off x="4663440" y="3063240"/>
            <a:ext cx="54864" cy="10058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154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429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iOS experience to working multi-device beta in weeks. Published thesis + prototypes at thbrdy.dev.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572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jthomasbrady@proton.me  |  thbrdy.dev/notice  |  TestFlight: testflight.apple.com/join/2AR4qQYp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Notice — Investor Brief</dc:title>
  <dc:subject>PptxGenJS Presentation</dc:subject>
  <dc:creator>Thomas Brady</dc:creator>
  <cp:lastModifiedBy>Thomas Brady</cp:lastModifiedBy>
  <cp:revision>1</cp:revision>
  <dcterms:created xsi:type="dcterms:W3CDTF">2026-03-04T20:27:16Z</dcterms:created>
  <dcterms:modified xsi:type="dcterms:W3CDTF">2026-03-04T20:27:16Z</dcterms:modified>
</cp:coreProperties>
</file>